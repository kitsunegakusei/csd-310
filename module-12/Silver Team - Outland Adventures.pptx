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4" r:id="rId6"/>
    <p:sldId id="261" r:id="rId7"/>
    <p:sldId id="262"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628B4B-AD0B-5BA5-4330-8FF92BAE8020}" v="728" dt="2025-05-11T14:36:26.3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09" d="100"/>
          <a:sy n="109" d="100"/>
        </p:scale>
        <p:origin x="34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4C1534-B828-425A-998E-98A239787BF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E71D534D-C07D-4A87-BE1D-C94A45838480}">
      <dgm:prSet/>
      <dgm:spPr/>
      <dgm:t>
        <a:bodyPr/>
        <a:lstStyle/>
        <a:p>
          <a:r>
            <a:rPr lang="en-US"/>
            <a:t>Hello CSD-310,</a:t>
          </a:r>
        </a:p>
      </dgm:t>
    </dgm:pt>
    <dgm:pt modelId="{76D84A0D-5028-481C-9074-8ADB7A38B065}" type="parTrans" cxnId="{7A545988-D1F1-49EE-BBEE-C48B7D55189E}">
      <dgm:prSet/>
      <dgm:spPr/>
      <dgm:t>
        <a:bodyPr/>
        <a:lstStyle/>
        <a:p>
          <a:endParaRPr lang="en-US"/>
        </a:p>
      </dgm:t>
    </dgm:pt>
    <dgm:pt modelId="{81B6DFFD-9F60-40F0-8D00-F89ADAB0C704}" type="sibTrans" cxnId="{7A545988-D1F1-49EE-BBEE-C48B7D55189E}">
      <dgm:prSet/>
      <dgm:spPr/>
      <dgm:t>
        <a:bodyPr/>
        <a:lstStyle/>
        <a:p>
          <a:endParaRPr lang="en-US"/>
        </a:p>
      </dgm:t>
    </dgm:pt>
    <dgm:pt modelId="{0DD2439A-4465-4D9D-90A2-47C35ADEB4DD}">
      <dgm:prSet/>
      <dgm:spPr/>
      <dgm:t>
        <a:bodyPr/>
        <a:lstStyle/>
        <a:p>
          <a:r>
            <a:rPr lang="en-US" dirty="0"/>
            <a:t>We are Team Silver, and our members are Tyson, Crystal, &amp; </a:t>
          </a:r>
          <a:r>
            <a:rPr lang="en-US" dirty="0" err="1"/>
            <a:t>Rashai</a:t>
          </a:r>
          <a:r>
            <a:rPr lang="en-US" dirty="0"/>
            <a:t>. We are excited to share our findings and ideas from our Case Study on Outland Adventures.  </a:t>
          </a:r>
        </a:p>
      </dgm:t>
    </dgm:pt>
    <dgm:pt modelId="{6834495A-3A43-4685-9729-90FBEC50A725}" type="parTrans" cxnId="{06BDEEE1-917F-4F01-BE6A-927DE8A98D37}">
      <dgm:prSet/>
      <dgm:spPr/>
      <dgm:t>
        <a:bodyPr/>
        <a:lstStyle/>
        <a:p>
          <a:endParaRPr lang="en-US"/>
        </a:p>
      </dgm:t>
    </dgm:pt>
    <dgm:pt modelId="{2AB3F3B1-3051-42D1-A1F2-4B689CC8C285}" type="sibTrans" cxnId="{06BDEEE1-917F-4F01-BE6A-927DE8A98D37}">
      <dgm:prSet/>
      <dgm:spPr/>
      <dgm:t>
        <a:bodyPr/>
        <a:lstStyle/>
        <a:p>
          <a:endParaRPr lang="en-US"/>
        </a:p>
      </dgm:t>
    </dgm:pt>
    <dgm:pt modelId="{CDDE1BBB-B46A-4B89-998F-12E6567AEBD6}" type="pres">
      <dgm:prSet presAssocID="{C24C1534-B828-425A-998E-98A239787BFC}" presName="hierChild1" presStyleCnt="0">
        <dgm:presLayoutVars>
          <dgm:chPref val="1"/>
          <dgm:dir/>
          <dgm:animOne val="branch"/>
          <dgm:animLvl val="lvl"/>
          <dgm:resizeHandles/>
        </dgm:presLayoutVars>
      </dgm:prSet>
      <dgm:spPr/>
    </dgm:pt>
    <dgm:pt modelId="{9D5A625B-C001-4FCD-BC41-3CB25A3AE259}" type="pres">
      <dgm:prSet presAssocID="{E71D534D-C07D-4A87-BE1D-C94A45838480}" presName="hierRoot1" presStyleCnt="0"/>
      <dgm:spPr/>
    </dgm:pt>
    <dgm:pt modelId="{2D20B5B4-ADAF-4957-9140-F1FEC198BB33}" type="pres">
      <dgm:prSet presAssocID="{E71D534D-C07D-4A87-BE1D-C94A45838480}" presName="composite" presStyleCnt="0"/>
      <dgm:spPr/>
    </dgm:pt>
    <dgm:pt modelId="{D466BB9F-2578-40E7-8DE0-AED27C340ECE}" type="pres">
      <dgm:prSet presAssocID="{E71D534D-C07D-4A87-BE1D-C94A45838480}" presName="background" presStyleLbl="node0" presStyleIdx="0" presStyleCnt="2"/>
      <dgm:spPr/>
    </dgm:pt>
    <dgm:pt modelId="{082852E7-5771-4D42-B1F0-FF60563B482F}" type="pres">
      <dgm:prSet presAssocID="{E71D534D-C07D-4A87-BE1D-C94A45838480}" presName="text" presStyleLbl="fgAcc0" presStyleIdx="0" presStyleCnt="2" custScaleX="47813" custScaleY="51235">
        <dgm:presLayoutVars>
          <dgm:chPref val="3"/>
        </dgm:presLayoutVars>
      </dgm:prSet>
      <dgm:spPr/>
    </dgm:pt>
    <dgm:pt modelId="{55B8D7D9-8C33-4E54-9AD3-E532264CB626}" type="pres">
      <dgm:prSet presAssocID="{E71D534D-C07D-4A87-BE1D-C94A45838480}" presName="hierChild2" presStyleCnt="0"/>
      <dgm:spPr/>
    </dgm:pt>
    <dgm:pt modelId="{4B64DDA1-C885-4E4B-97CE-59487B10DD49}" type="pres">
      <dgm:prSet presAssocID="{0DD2439A-4465-4D9D-90A2-47C35ADEB4DD}" presName="hierRoot1" presStyleCnt="0"/>
      <dgm:spPr/>
    </dgm:pt>
    <dgm:pt modelId="{64F808C5-C765-465F-8E68-59E682E0FB98}" type="pres">
      <dgm:prSet presAssocID="{0DD2439A-4465-4D9D-90A2-47C35ADEB4DD}" presName="composite" presStyleCnt="0"/>
      <dgm:spPr/>
    </dgm:pt>
    <dgm:pt modelId="{0B3D30A1-32F9-4325-A430-C3346C00310C}" type="pres">
      <dgm:prSet presAssocID="{0DD2439A-4465-4D9D-90A2-47C35ADEB4DD}" presName="background" presStyleLbl="node0" presStyleIdx="1" presStyleCnt="2"/>
      <dgm:spPr/>
    </dgm:pt>
    <dgm:pt modelId="{CE019685-B855-4769-A951-AB596032F8B4}" type="pres">
      <dgm:prSet presAssocID="{0DD2439A-4465-4D9D-90A2-47C35ADEB4DD}" presName="text" presStyleLbl="fgAcc0" presStyleIdx="1" presStyleCnt="2">
        <dgm:presLayoutVars>
          <dgm:chPref val="3"/>
        </dgm:presLayoutVars>
      </dgm:prSet>
      <dgm:spPr/>
    </dgm:pt>
    <dgm:pt modelId="{41D35867-0DFF-4666-A23D-9BB5823E1342}" type="pres">
      <dgm:prSet presAssocID="{0DD2439A-4465-4D9D-90A2-47C35ADEB4DD}" presName="hierChild2" presStyleCnt="0"/>
      <dgm:spPr/>
    </dgm:pt>
  </dgm:ptLst>
  <dgm:cxnLst>
    <dgm:cxn modelId="{F065162D-1BED-4EFC-8195-AF5FFB575044}" type="presOf" srcId="{C24C1534-B828-425A-998E-98A239787BFC}" destId="{CDDE1BBB-B46A-4B89-998F-12E6567AEBD6}" srcOrd="0" destOrd="0" presId="urn:microsoft.com/office/officeart/2005/8/layout/hierarchy1"/>
    <dgm:cxn modelId="{8B131C51-82EA-4CC2-9AFD-60D4E317988B}" type="presOf" srcId="{E71D534D-C07D-4A87-BE1D-C94A45838480}" destId="{082852E7-5771-4D42-B1F0-FF60563B482F}" srcOrd="0" destOrd="0" presId="urn:microsoft.com/office/officeart/2005/8/layout/hierarchy1"/>
    <dgm:cxn modelId="{7A545988-D1F1-49EE-BBEE-C48B7D55189E}" srcId="{C24C1534-B828-425A-998E-98A239787BFC}" destId="{E71D534D-C07D-4A87-BE1D-C94A45838480}" srcOrd="0" destOrd="0" parTransId="{76D84A0D-5028-481C-9074-8ADB7A38B065}" sibTransId="{81B6DFFD-9F60-40F0-8D00-F89ADAB0C704}"/>
    <dgm:cxn modelId="{767FC9B6-8EE7-4D2D-AC54-4AB0DB0DBAF1}" type="presOf" srcId="{0DD2439A-4465-4D9D-90A2-47C35ADEB4DD}" destId="{CE019685-B855-4769-A951-AB596032F8B4}" srcOrd="0" destOrd="0" presId="urn:microsoft.com/office/officeart/2005/8/layout/hierarchy1"/>
    <dgm:cxn modelId="{06BDEEE1-917F-4F01-BE6A-927DE8A98D37}" srcId="{C24C1534-B828-425A-998E-98A239787BFC}" destId="{0DD2439A-4465-4D9D-90A2-47C35ADEB4DD}" srcOrd="1" destOrd="0" parTransId="{6834495A-3A43-4685-9729-90FBEC50A725}" sibTransId="{2AB3F3B1-3051-42D1-A1F2-4B689CC8C285}"/>
    <dgm:cxn modelId="{570FE94E-7253-4942-B305-A8E6413EF172}" type="presParOf" srcId="{CDDE1BBB-B46A-4B89-998F-12E6567AEBD6}" destId="{9D5A625B-C001-4FCD-BC41-3CB25A3AE259}" srcOrd="0" destOrd="0" presId="urn:microsoft.com/office/officeart/2005/8/layout/hierarchy1"/>
    <dgm:cxn modelId="{042E8DCD-AD2F-49EE-898B-C73D4DCC2323}" type="presParOf" srcId="{9D5A625B-C001-4FCD-BC41-3CB25A3AE259}" destId="{2D20B5B4-ADAF-4957-9140-F1FEC198BB33}" srcOrd="0" destOrd="0" presId="urn:microsoft.com/office/officeart/2005/8/layout/hierarchy1"/>
    <dgm:cxn modelId="{DE8F0D5E-F529-47E7-8403-ADF89D6AD84D}" type="presParOf" srcId="{2D20B5B4-ADAF-4957-9140-F1FEC198BB33}" destId="{D466BB9F-2578-40E7-8DE0-AED27C340ECE}" srcOrd="0" destOrd="0" presId="urn:microsoft.com/office/officeart/2005/8/layout/hierarchy1"/>
    <dgm:cxn modelId="{F8574E77-B930-4F8B-AC7D-4BDCDC466114}" type="presParOf" srcId="{2D20B5B4-ADAF-4957-9140-F1FEC198BB33}" destId="{082852E7-5771-4D42-B1F0-FF60563B482F}" srcOrd="1" destOrd="0" presId="urn:microsoft.com/office/officeart/2005/8/layout/hierarchy1"/>
    <dgm:cxn modelId="{E420A9FB-89F3-43A2-8F25-1D2D8A8ABC6E}" type="presParOf" srcId="{9D5A625B-C001-4FCD-BC41-3CB25A3AE259}" destId="{55B8D7D9-8C33-4E54-9AD3-E532264CB626}" srcOrd="1" destOrd="0" presId="urn:microsoft.com/office/officeart/2005/8/layout/hierarchy1"/>
    <dgm:cxn modelId="{7FC30D68-4E72-486F-BCBF-188BE9C564F0}" type="presParOf" srcId="{CDDE1BBB-B46A-4B89-998F-12E6567AEBD6}" destId="{4B64DDA1-C885-4E4B-97CE-59487B10DD49}" srcOrd="1" destOrd="0" presId="urn:microsoft.com/office/officeart/2005/8/layout/hierarchy1"/>
    <dgm:cxn modelId="{0BEF0154-7E87-4E2B-B1F9-72B45302857B}" type="presParOf" srcId="{4B64DDA1-C885-4E4B-97CE-59487B10DD49}" destId="{64F808C5-C765-465F-8E68-59E682E0FB98}" srcOrd="0" destOrd="0" presId="urn:microsoft.com/office/officeart/2005/8/layout/hierarchy1"/>
    <dgm:cxn modelId="{DFD2BFD6-A5D7-400E-AB8D-E135CD406739}" type="presParOf" srcId="{64F808C5-C765-465F-8E68-59E682E0FB98}" destId="{0B3D30A1-32F9-4325-A430-C3346C00310C}" srcOrd="0" destOrd="0" presId="urn:microsoft.com/office/officeart/2005/8/layout/hierarchy1"/>
    <dgm:cxn modelId="{59587A8F-F9D9-4196-A37B-C315CA6DEACB}" type="presParOf" srcId="{64F808C5-C765-465F-8E68-59E682E0FB98}" destId="{CE019685-B855-4769-A951-AB596032F8B4}" srcOrd="1" destOrd="0" presId="urn:microsoft.com/office/officeart/2005/8/layout/hierarchy1"/>
    <dgm:cxn modelId="{D3E3E698-A674-4F95-81F3-99C0AA288919}" type="presParOf" srcId="{4B64DDA1-C885-4E4B-97CE-59487B10DD49}" destId="{41D35867-0DFF-4666-A23D-9BB5823E134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66BB9F-2578-40E7-8DE0-AED27C340ECE}">
      <dsp:nvSpPr>
        <dsp:cNvPr id="0" name=""/>
        <dsp:cNvSpPr/>
      </dsp:nvSpPr>
      <dsp:spPr>
        <a:xfrm>
          <a:off x="775363" y="1563"/>
          <a:ext cx="2412760" cy="16417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2852E7-5771-4D42-B1F0-FF60563B482F}">
      <dsp:nvSpPr>
        <dsp:cNvPr id="0" name=""/>
        <dsp:cNvSpPr/>
      </dsp:nvSpPr>
      <dsp:spPr>
        <a:xfrm>
          <a:off x="1336057" y="534222"/>
          <a:ext cx="2412760" cy="164175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Hello CSD-310,</a:t>
          </a:r>
        </a:p>
      </dsp:txBody>
      <dsp:txXfrm>
        <a:off x="1384142" y="582307"/>
        <a:ext cx="2316590" cy="1545586"/>
      </dsp:txXfrm>
    </dsp:sp>
    <dsp:sp modelId="{0B3D30A1-32F9-4325-A430-C3346C00310C}">
      <dsp:nvSpPr>
        <dsp:cNvPr id="0" name=""/>
        <dsp:cNvSpPr/>
      </dsp:nvSpPr>
      <dsp:spPr>
        <a:xfrm>
          <a:off x="4309511" y="1563"/>
          <a:ext cx="5046242" cy="32043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019685-B855-4769-A951-AB596032F8B4}">
      <dsp:nvSpPr>
        <dsp:cNvPr id="0" name=""/>
        <dsp:cNvSpPr/>
      </dsp:nvSpPr>
      <dsp:spPr>
        <a:xfrm>
          <a:off x="4870205" y="534222"/>
          <a:ext cx="5046242" cy="3204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We are Team Silver, and our members are Tyson, Crystal, &amp; </a:t>
          </a:r>
          <a:r>
            <a:rPr lang="en-US" sz="3000" kern="1200" dirty="0" err="1"/>
            <a:t>Rashai</a:t>
          </a:r>
          <a:r>
            <a:rPr lang="en-US" sz="3000" kern="1200" dirty="0"/>
            <a:t>. We are excited to share our findings and ideas from our Case Study on Outland Adventures.  </a:t>
          </a:r>
        </a:p>
      </dsp:txBody>
      <dsp:txXfrm>
        <a:off x="4964058" y="628075"/>
        <a:ext cx="4858536" cy="301665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5/14/2025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6658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5/14/2025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07921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5/14/2025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39447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5/14/2025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80214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5/14/2025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5718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5/14/2025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42951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5/14/2025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312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5/14/2025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389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5/14/2025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01757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5/14/2025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6642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5/14/2025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66663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5/14/2025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05866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7" name="Picture 6" descr="Two people hiking">
            <a:extLst>
              <a:ext uri="{FF2B5EF4-FFF2-40B4-BE49-F238E27FC236}">
                <a16:creationId xmlns:a16="http://schemas.microsoft.com/office/drawing/2014/main" id="{671FC9C5-6020-2D33-AB4E-FED452B1B026}"/>
              </a:ext>
            </a:extLst>
          </p:cNvPr>
          <p:cNvPicPr>
            <a:picLocks noChangeAspect="1"/>
          </p:cNvPicPr>
          <p:nvPr/>
        </p:nvPicPr>
        <p:blipFill>
          <a:blip r:embed="rId2">
            <a:extLst>
              <a:ext uri="{28A0092B-C50C-407E-A947-70E740481C1C}">
                <a14:useLocalDpi xmlns:a14="http://schemas.microsoft.com/office/drawing/2010/main" val="0"/>
              </a:ext>
            </a:extLst>
          </a:blip>
          <a:srcRect t="23391" r="9091"/>
          <a:stretch>
            <a:fillRect/>
          </a:stretch>
        </p:blipFill>
        <p:spPr>
          <a:xfrm>
            <a:off x="20" y="10"/>
            <a:ext cx="12191979" cy="6857990"/>
          </a:xfrm>
          <a:prstGeom prst="rect">
            <a:avLst/>
          </a:prstGeom>
        </p:spPr>
      </p:pic>
      <p:sp>
        <p:nvSpPr>
          <p:cNvPr id="33" name="Rectangle 32">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p:cNvSpPr>
            <a:spLocks noGrp="1"/>
          </p:cNvSpPr>
          <p:nvPr>
            <p:ph type="ctrTitle"/>
          </p:nvPr>
        </p:nvSpPr>
        <p:spPr>
          <a:xfrm>
            <a:off x="313786" y="908651"/>
            <a:ext cx="5230366" cy="4005454"/>
          </a:xfrm>
        </p:spPr>
        <p:txBody>
          <a:bodyPr anchor="t">
            <a:normAutofit/>
          </a:bodyPr>
          <a:lstStyle/>
          <a:p>
            <a:r>
              <a:rPr lang="en-US" sz="6800"/>
              <a:t>Outland Adventures</a:t>
            </a:r>
          </a:p>
        </p:txBody>
      </p:sp>
      <p:sp>
        <p:nvSpPr>
          <p:cNvPr id="3" name="Subtitle 2"/>
          <p:cNvSpPr>
            <a:spLocks noGrp="1"/>
          </p:cNvSpPr>
          <p:nvPr>
            <p:ph type="subTitle" idx="1"/>
          </p:nvPr>
        </p:nvSpPr>
        <p:spPr>
          <a:xfrm>
            <a:off x="313787" y="5050632"/>
            <a:ext cx="3793200" cy="1129888"/>
          </a:xfrm>
        </p:spPr>
        <p:txBody>
          <a:bodyPr vert="horz" lIns="91440" tIns="45720" rIns="91440" bIns="45720" rtlCol="0" anchor="b">
            <a:normAutofit/>
          </a:bodyPr>
          <a:lstStyle/>
          <a:p>
            <a:r>
              <a:rPr lang="en-US" dirty="0"/>
              <a:t> Team Silver:</a:t>
            </a:r>
          </a:p>
          <a:p>
            <a:r>
              <a:rPr lang="en-US" dirty="0"/>
              <a:t>Tyson B. </a:t>
            </a:r>
            <a:r>
              <a:rPr lang="en-US"/>
              <a:t>- Crystal L. </a:t>
            </a:r>
            <a:r>
              <a:rPr lang="en-US" dirty="0"/>
              <a:t>- </a:t>
            </a:r>
            <a:r>
              <a:rPr lang="en-US" dirty="0" err="1"/>
              <a:t>Rashai</a:t>
            </a:r>
            <a:r>
              <a:rPr lang="en-US" dirty="0"/>
              <a:t> R.</a:t>
            </a:r>
          </a:p>
        </p:txBody>
      </p:sp>
      <p:cxnSp>
        <p:nvCxnSpPr>
          <p:cNvPr id="31" name="Straight Connector 30">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3ED8F3-8785-2279-CCAD-7C3144D6225D}"/>
              </a:ext>
            </a:extLst>
          </p:cNvPr>
          <p:cNvSpPr>
            <a:spLocks noGrp="1"/>
          </p:cNvSpPr>
          <p:nvPr>
            <p:ph type="title"/>
          </p:nvPr>
        </p:nvSpPr>
        <p:spPr>
          <a:xfrm>
            <a:off x="700087" y="909638"/>
            <a:ext cx="10691813" cy="1155618"/>
          </a:xfrm>
        </p:spPr>
        <p:txBody>
          <a:bodyPr>
            <a:normAutofit/>
          </a:bodyPr>
          <a:lstStyle/>
          <a:p>
            <a:r>
              <a:rPr lang="en-US" dirty="0"/>
              <a:t>Introduction!</a:t>
            </a:r>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7B38FF9-663D-4411-BFBF-A213FE51DD46}"/>
              </a:ext>
            </a:extLst>
          </p:cNvPr>
          <p:cNvGraphicFramePr>
            <a:graphicFrameLocks noGrp="1"/>
          </p:cNvGraphicFramePr>
          <p:nvPr>
            <p:ph idx="1"/>
            <p:extLst>
              <p:ext uri="{D42A27DB-BD31-4B8C-83A1-F6EECF244321}">
                <p14:modId xmlns:p14="http://schemas.microsoft.com/office/powerpoint/2010/main" val="1814074355"/>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0864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700AF8-B977-BE67-9660-9FFB88E67A4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825B95-49CD-7783-559A-244117726E84}"/>
              </a:ext>
            </a:extLst>
          </p:cNvPr>
          <p:cNvSpPr>
            <a:spLocks noGrp="1"/>
          </p:cNvSpPr>
          <p:nvPr>
            <p:ph type="title"/>
          </p:nvPr>
        </p:nvSpPr>
        <p:spPr>
          <a:xfrm>
            <a:off x="69055" y="914400"/>
            <a:ext cx="5195889" cy="1316736"/>
          </a:xfrm>
        </p:spPr>
        <p:txBody>
          <a:bodyPr>
            <a:normAutofit/>
          </a:bodyPr>
          <a:lstStyle/>
          <a:p>
            <a:r>
              <a:rPr lang="en-US" dirty="0"/>
              <a:t>Case Study brief</a:t>
            </a:r>
          </a:p>
        </p:txBody>
      </p:sp>
      <p:cxnSp>
        <p:nvCxnSpPr>
          <p:cNvPr id="11" name="Straight Connector 10">
            <a:extLst>
              <a:ext uri="{FF2B5EF4-FFF2-40B4-BE49-F238E27FC236}">
                <a16:creationId xmlns:a16="http://schemas.microsoft.com/office/drawing/2014/main" id="{F2B951FD-94F7-E138-3EC2-A66A551D91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A51782D-0D94-FB3D-00FA-28A86B05FB74}"/>
              </a:ext>
            </a:extLst>
          </p:cNvPr>
          <p:cNvSpPr>
            <a:spLocks noGrp="1"/>
          </p:cNvSpPr>
          <p:nvPr>
            <p:ph idx="1"/>
          </p:nvPr>
        </p:nvSpPr>
        <p:spPr>
          <a:xfrm>
            <a:off x="704088" y="2231136"/>
            <a:ext cx="5195889" cy="3931920"/>
          </a:xfrm>
        </p:spPr>
        <p:txBody>
          <a:bodyPr vert="horz" lIns="91440" tIns="45720" rIns="91440" bIns="45720" rtlCol="0">
            <a:normAutofit/>
          </a:bodyPr>
          <a:lstStyle/>
          <a:p>
            <a:pPr marL="0" indent="0">
              <a:lnSpc>
                <a:spcPct val="100000"/>
              </a:lnSpc>
              <a:buNone/>
            </a:pPr>
            <a:r>
              <a:rPr lang="en-US" sz="1700" dirty="0"/>
              <a:t>Hello CSD-310,</a:t>
            </a:r>
          </a:p>
          <a:p>
            <a:pPr marL="0" indent="0">
              <a:lnSpc>
                <a:spcPct val="100000"/>
              </a:lnSpc>
              <a:buNone/>
            </a:pPr>
            <a:r>
              <a:rPr lang="en-US" sz="1700" dirty="0"/>
              <a:t>Our project is about a travel company known as Outland Adventures. Outland Adventures was started by </a:t>
            </a:r>
            <a:r>
              <a:rPr lang="en-US" sz="1700" dirty="0">
                <a:ea typeface="+mn-lt"/>
                <a:cs typeface="+mn-lt"/>
              </a:rPr>
              <a:t>Blythe </a:t>
            </a:r>
            <a:r>
              <a:rPr lang="en-US" sz="1700" dirty="0" err="1">
                <a:ea typeface="+mn-lt"/>
                <a:cs typeface="+mn-lt"/>
              </a:rPr>
              <a:t>Timmerson</a:t>
            </a:r>
            <a:r>
              <a:rPr lang="en-US" sz="1700" dirty="0">
                <a:ea typeface="+mn-lt"/>
                <a:cs typeface="+mn-lt"/>
              </a:rPr>
              <a:t> and Jim Ford. It was originally their hobby, but it became successful enough to turn it into something more. They now have 5 employees.</a:t>
            </a:r>
          </a:p>
          <a:p>
            <a:pPr marL="0" indent="0">
              <a:lnSpc>
                <a:spcPct val="100000"/>
              </a:lnSpc>
              <a:buNone/>
            </a:pPr>
            <a:r>
              <a:rPr lang="en-US" sz="1700" dirty="0"/>
              <a:t>Blythe and Jim want to optimize the company, so they have a few questions, like:</a:t>
            </a:r>
          </a:p>
          <a:p>
            <a:pPr marL="342900" indent="-342900">
              <a:lnSpc>
                <a:spcPct val="100000"/>
              </a:lnSpc>
            </a:pPr>
            <a:r>
              <a:rPr lang="en-US" sz="1700" dirty="0"/>
              <a:t>Should we keep selling equipment?</a:t>
            </a:r>
          </a:p>
          <a:p>
            <a:pPr marL="342900" indent="-342900">
              <a:lnSpc>
                <a:spcPct val="100000"/>
              </a:lnSpc>
            </a:pPr>
            <a:r>
              <a:rPr lang="en-US" sz="1700" dirty="0"/>
              <a:t>Which location is least booked?</a:t>
            </a:r>
          </a:p>
          <a:p>
            <a:pPr marL="342900" indent="-342900">
              <a:lnSpc>
                <a:spcPct val="100000"/>
              </a:lnSpc>
            </a:pPr>
            <a:r>
              <a:rPr lang="en-US" sz="1700" dirty="0"/>
              <a:t>How old is our inventory?</a:t>
            </a:r>
          </a:p>
          <a:p>
            <a:pPr marL="342900" indent="-342900">
              <a:lnSpc>
                <a:spcPct val="100000"/>
              </a:lnSpc>
            </a:pPr>
            <a:endParaRPr lang="en-US" sz="1700" dirty="0"/>
          </a:p>
          <a:p>
            <a:pPr marL="0" indent="0">
              <a:lnSpc>
                <a:spcPct val="100000"/>
              </a:lnSpc>
              <a:buNone/>
            </a:pPr>
            <a:endParaRPr lang="en-US" sz="1700" dirty="0"/>
          </a:p>
          <a:p>
            <a:pPr>
              <a:lnSpc>
                <a:spcPct val="100000"/>
              </a:lnSpc>
            </a:pPr>
            <a:endParaRPr lang="en-US" sz="1700" dirty="0"/>
          </a:p>
        </p:txBody>
      </p:sp>
      <p:pic>
        <p:nvPicPr>
          <p:cNvPr id="5" name="Picture 4" descr="Vehicle driving uphill in countryside">
            <a:extLst>
              <a:ext uri="{FF2B5EF4-FFF2-40B4-BE49-F238E27FC236}">
                <a16:creationId xmlns:a16="http://schemas.microsoft.com/office/drawing/2014/main" id="{8432CEEE-9E3E-2BDC-7245-2A7EAC011932}"/>
              </a:ext>
            </a:extLst>
          </p:cNvPr>
          <p:cNvPicPr>
            <a:picLocks noChangeAspect="1"/>
          </p:cNvPicPr>
          <p:nvPr/>
        </p:nvPicPr>
        <p:blipFill>
          <a:blip r:embed="rId2"/>
          <a:srcRect l="33380" r="10447" b="-2"/>
          <a:stretch>
            <a:fillRect/>
          </a:stretch>
        </p:blipFill>
        <p:spPr>
          <a:xfrm>
            <a:off x="6420752" y="-1"/>
            <a:ext cx="5771248" cy="6857999"/>
          </a:xfrm>
          <a:prstGeom prst="rect">
            <a:avLst/>
          </a:prstGeom>
        </p:spPr>
      </p:pic>
      <p:pic>
        <p:nvPicPr>
          <p:cNvPr id="6" name="Picture 5" descr="A drawing of a tent and a forest&#10;&#10;AI-generated content may be incorrect.">
            <a:extLst>
              <a:ext uri="{FF2B5EF4-FFF2-40B4-BE49-F238E27FC236}">
                <a16:creationId xmlns:a16="http://schemas.microsoft.com/office/drawing/2014/main" id="{43FA5511-0764-6CCB-1712-1B45F1610FCB}"/>
              </a:ext>
            </a:extLst>
          </p:cNvPr>
          <p:cNvPicPr>
            <a:picLocks noChangeAspect="1"/>
          </p:cNvPicPr>
          <p:nvPr/>
        </p:nvPicPr>
        <p:blipFill>
          <a:blip r:embed="rId3"/>
          <a:stretch>
            <a:fillRect/>
          </a:stretch>
        </p:blipFill>
        <p:spPr>
          <a:xfrm>
            <a:off x="4690738" y="0"/>
            <a:ext cx="2757755" cy="2757755"/>
          </a:xfrm>
          <a:prstGeom prst="rect">
            <a:avLst/>
          </a:prstGeom>
        </p:spPr>
      </p:pic>
    </p:spTree>
    <p:extLst>
      <p:ext uri="{BB962C8B-B14F-4D97-AF65-F5344CB8AC3E}">
        <p14:creationId xmlns:p14="http://schemas.microsoft.com/office/powerpoint/2010/main" val="876958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00831-FF67-42F7-5012-06D5A88843F4}"/>
              </a:ext>
            </a:extLst>
          </p:cNvPr>
          <p:cNvSpPr>
            <a:spLocks noGrp="1"/>
          </p:cNvSpPr>
          <p:nvPr>
            <p:ph type="title"/>
          </p:nvPr>
        </p:nvSpPr>
        <p:spPr/>
        <p:txBody>
          <a:bodyPr/>
          <a:lstStyle/>
          <a:p>
            <a:r>
              <a:rPr lang="en-US" dirty="0"/>
              <a:t>ERD</a:t>
            </a:r>
          </a:p>
        </p:txBody>
      </p:sp>
      <p:pic>
        <p:nvPicPr>
          <p:cNvPr id="4" name="Content Placeholder 3" descr="A diagram of a company&#10;&#10;AI-generated content may be incorrect.">
            <a:extLst>
              <a:ext uri="{FF2B5EF4-FFF2-40B4-BE49-F238E27FC236}">
                <a16:creationId xmlns:a16="http://schemas.microsoft.com/office/drawing/2014/main" id="{0B02480F-554D-330E-C73E-336BB1CE32BC}"/>
              </a:ext>
            </a:extLst>
          </p:cNvPr>
          <p:cNvPicPr>
            <a:picLocks noGrp="1" noChangeAspect="1"/>
          </p:cNvPicPr>
          <p:nvPr>
            <p:ph idx="1"/>
          </p:nvPr>
        </p:nvPicPr>
        <p:blipFill>
          <a:blip r:embed="rId2"/>
          <a:srcRect r="498" b="165"/>
          <a:stretch/>
        </p:blipFill>
        <p:spPr>
          <a:xfrm>
            <a:off x="3797373" y="1336090"/>
            <a:ext cx="4503984" cy="4526682"/>
          </a:xfrm>
        </p:spPr>
      </p:pic>
    </p:spTree>
    <p:extLst>
      <p:ext uri="{BB962C8B-B14F-4D97-AF65-F5344CB8AC3E}">
        <p14:creationId xmlns:p14="http://schemas.microsoft.com/office/powerpoint/2010/main" val="1085840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20353-6BB6-AD85-1ADA-105715E52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BA699-291B-1566-25CC-C15632F1238F}"/>
              </a:ext>
            </a:extLst>
          </p:cNvPr>
          <p:cNvSpPr>
            <a:spLocks noGrp="1"/>
          </p:cNvSpPr>
          <p:nvPr>
            <p:ph type="title"/>
          </p:nvPr>
        </p:nvSpPr>
        <p:spPr/>
        <p:txBody>
          <a:bodyPr/>
          <a:lstStyle/>
          <a:p>
            <a:r>
              <a:rPr lang="en-US" dirty="0"/>
              <a:t>Report 1</a:t>
            </a:r>
          </a:p>
        </p:txBody>
      </p:sp>
      <p:sp>
        <p:nvSpPr>
          <p:cNvPr id="3" name="Content Placeholder 2">
            <a:extLst>
              <a:ext uri="{FF2B5EF4-FFF2-40B4-BE49-F238E27FC236}">
                <a16:creationId xmlns:a16="http://schemas.microsoft.com/office/drawing/2014/main" id="{FC7F1036-F0FD-A162-5245-BDD98812827E}"/>
              </a:ext>
            </a:extLst>
          </p:cNvPr>
          <p:cNvSpPr>
            <a:spLocks noGrp="1"/>
          </p:cNvSpPr>
          <p:nvPr>
            <p:ph idx="1"/>
          </p:nvPr>
        </p:nvSpPr>
        <p:spPr>
          <a:xfrm>
            <a:off x="114193" y="2221992"/>
            <a:ext cx="7148821" cy="3739896"/>
          </a:xfrm>
        </p:spPr>
        <p:txBody>
          <a:bodyPr vert="horz" lIns="91440" tIns="45720" rIns="91440" bIns="45720" rtlCol="0" anchor="t">
            <a:normAutofit/>
          </a:bodyPr>
          <a:lstStyle/>
          <a:p>
            <a:pPr marL="0" indent="0" algn="ctr">
              <a:buNone/>
            </a:pPr>
            <a:r>
              <a:rPr lang="en-US" sz="1200" dirty="0">
                <a:latin typeface="Aptos"/>
              </a:rPr>
              <a:t>Our first report shows equipment sales. </a:t>
            </a:r>
            <a:endParaRPr lang="en-US" dirty="0"/>
          </a:p>
          <a:p>
            <a:pPr marL="0" indent="0" algn="ctr">
              <a:buNone/>
            </a:pPr>
            <a:r>
              <a:rPr lang="en-US" sz="1200" dirty="0">
                <a:latin typeface="Aptos"/>
              </a:rPr>
              <a:t> We wanted to see if our customers benefit from us keeping equipment on hand for sale. While we also do rent out our equipment for those who do not want the hassle of their own. </a:t>
            </a:r>
          </a:p>
          <a:p>
            <a:pPr indent="0" algn="ctr">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a:p>
            <a:pPr marL="0" indent="0" algn="ctr">
              <a:buNone/>
            </a:pPr>
            <a:endParaRPr lang="en-US" sz="1200" dirty="0">
              <a:latin typeface="Aptos"/>
            </a:endParaRPr>
          </a:p>
          <a:p>
            <a:pPr marL="0" indent="0" algn="ctr">
              <a:buNone/>
            </a:pPr>
            <a:endParaRPr lang="en-US" sz="1200" dirty="0">
              <a:latin typeface="Aptos"/>
            </a:endParaRPr>
          </a:p>
          <a:p>
            <a:pPr marL="171450" indent="-171450" algn="ctr"/>
            <a:endParaRPr lang="en-US" sz="1200" dirty="0">
              <a:latin typeface="Aptos"/>
            </a:endParaRPr>
          </a:p>
          <a:p>
            <a:pPr marL="0" indent="0" algn="ctr">
              <a:buNone/>
            </a:pPr>
            <a:endParaRPr lang="en-US" sz="1200" dirty="0">
              <a:latin typeface="Aptos"/>
            </a:endParaRPr>
          </a:p>
          <a:p>
            <a:pPr marL="0" indent="0" algn="ctr">
              <a:buNone/>
            </a:pPr>
            <a:r>
              <a:rPr lang="en-US" sz="1200" dirty="0">
                <a:latin typeface="Aptos"/>
              </a:rPr>
              <a:t>These are our sales so far this year.</a:t>
            </a:r>
          </a:p>
          <a:p>
            <a:pPr marL="0" indent="0">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p:txBody>
      </p:sp>
      <p:pic>
        <p:nvPicPr>
          <p:cNvPr id="4" name="Picture 3" descr="A screenshot of a computer&#10;&#10;AI-generated content may be incorrect.">
            <a:extLst>
              <a:ext uri="{FF2B5EF4-FFF2-40B4-BE49-F238E27FC236}">
                <a16:creationId xmlns:a16="http://schemas.microsoft.com/office/drawing/2014/main" id="{107760F0-03A5-E8EB-7D23-8B1DB570F3B8}"/>
              </a:ext>
            </a:extLst>
          </p:cNvPr>
          <p:cNvPicPr>
            <a:picLocks noChangeAspect="1"/>
          </p:cNvPicPr>
          <p:nvPr/>
        </p:nvPicPr>
        <p:blipFill>
          <a:blip r:embed="rId2"/>
          <a:stretch>
            <a:fillRect/>
          </a:stretch>
        </p:blipFill>
        <p:spPr>
          <a:xfrm>
            <a:off x="114193" y="3288792"/>
            <a:ext cx="6697573" cy="1905000"/>
          </a:xfrm>
          <a:prstGeom prst="rect">
            <a:avLst/>
          </a:prstGeom>
        </p:spPr>
      </p:pic>
      <p:pic>
        <p:nvPicPr>
          <p:cNvPr id="6" name="Picture 5" descr="Person next to backpack and thermos">
            <a:extLst>
              <a:ext uri="{FF2B5EF4-FFF2-40B4-BE49-F238E27FC236}">
                <a16:creationId xmlns:a16="http://schemas.microsoft.com/office/drawing/2014/main" id="{8883EF7D-BBE5-7E0B-73AD-BF90AF90CC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28713" y="3529584"/>
            <a:ext cx="4992624" cy="3328416"/>
          </a:xfrm>
          <a:prstGeom prst="rect">
            <a:avLst/>
          </a:prstGeom>
        </p:spPr>
      </p:pic>
    </p:spTree>
    <p:extLst>
      <p:ext uri="{BB962C8B-B14F-4D97-AF65-F5344CB8AC3E}">
        <p14:creationId xmlns:p14="http://schemas.microsoft.com/office/powerpoint/2010/main" val="741863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39AAF-88D1-2B29-9305-24878ADE9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D1936-3367-FEF1-DBE0-2B86D89D69F2}"/>
              </a:ext>
            </a:extLst>
          </p:cNvPr>
          <p:cNvSpPr>
            <a:spLocks noGrp="1"/>
          </p:cNvSpPr>
          <p:nvPr>
            <p:ph type="title"/>
          </p:nvPr>
        </p:nvSpPr>
        <p:spPr/>
        <p:txBody>
          <a:bodyPr/>
          <a:lstStyle/>
          <a:p>
            <a:r>
              <a:rPr lang="en-US" dirty="0"/>
              <a:t>Report 2</a:t>
            </a:r>
          </a:p>
        </p:txBody>
      </p:sp>
      <p:sp>
        <p:nvSpPr>
          <p:cNvPr id="3" name="Content Placeholder 2">
            <a:extLst>
              <a:ext uri="{FF2B5EF4-FFF2-40B4-BE49-F238E27FC236}">
                <a16:creationId xmlns:a16="http://schemas.microsoft.com/office/drawing/2014/main" id="{9FCBD490-7A1D-10B8-0656-8D4F37822830}"/>
              </a:ext>
            </a:extLst>
          </p:cNvPr>
          <p:cNvSpPr>
            <a:spLocks noGrp="1"/>
          </p:cNvSpPr>
          <p:nvPr>
            <p:ph idx="1"/>
          </p:nvPr>
        </p:nvSpPr>
        <p:spPr>
          <a:xfrm>
            <a:off x="5293005" y="2221992"/>
            <a:ext cx="6244547" cy="3739896"/>
          </a:xfrm>
        </p:spPr>
        <p:txBody>
          <a:bodyPr vert="horz" lIns="91440" tIns="45720" rIns="91440" bIns="45720" rtlCol="0" anchor="t">
            <a:normAutofit/>
          </a:bodyPr>
          <a:lstStyle/>
          <a:p>
            <a:pPr marL="0" indent="0" algn="ctr">
              <a:buNone/>
            </a:pPr>
            <a:r>
              <a:rPr lang="en-US" sz="1200" dirty="0">
                <a:latin typeface="Aptos"/>
              </a:rPr>
              <a:t>Our second report is for our booking trends. </a:t>
            </a:r>
            <a:endParaRPr lang="en-US" dirty="0"/>
          </a:p>
          <a:p>
            <a:pPr marL="0" indent="0" algn="ctr">
              <a:buNone/>
            </a:pPr>
            <a:r>
              <a:rPr lang="en-US" sz="1200" dirty="0">
                <a:latin typeface="Aptos"/>
              </a:rPr>
              <a:t> We wanted to see which locations our customers favor the most and which they favor the least. This would be beneficial so we could add more tours or guides for the ones that are more sought after than the others.</a:t>
            </a:r>
          </a:p>
          <a:p>
            <a:pPr indent="0" algn="ctr">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a:p>
            <a:pPr marL="0" indent="0" algn="ctr">
              <a:buNone/>
            </a:pPr>
            <a:endParaRPr lang="en-US" sz="1200" dirty="0">
              <a:latin typeface="Aptos"/>
            </a:endParaRPr>
          </a:p>
          <a:p>
            <a:pPr marL="0" indent="0" algn="ctr">
              <a:buNone/>
            </a:pPr>
            <a:endParaRPr lang="en-US" sz="1200" dirty="0">
              <a:latin typeface="Aptos"/>
            </a:endParaRPr>
          </a:p>
          <a:p>
            <a:pPr marL="0" indent="0" algn="ctr">
              <a:buNone/>
            </a:pPr>
            <a:r>
              <a:rPr lang="en-US" sz="1200" dirty="0">
                <a:latin typeface="Aptos"/>
              </a:rPr>
              <a:t>As you can see, South Europe is the least favorite travel location of our customer so far this year.</a:t>
            </a:r>
          </a:p>
          <a:p>
            <a:pPr marL="0" indent="0">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p:txBody>
      </p:sp>
      <p:pic>
        <p:nvPicPr>
          <p:cNvPr id="5" name="Picture 4" descr="A black rectangle with white text&#10;&#10;AI-generated content may be incorrect.">
            <a:extLst>
              <a:ext uri="{FF2B5EF4-FFF2-40B4-BE49-F238E27FC236}">
                <a16:creationId xmlns:a16="http://schemas.microsoft.com/office/drawing/2014/main" id="{53440C40-EDEA-2E31-78AC-BE4199939368}"/>
              </a:ext>
            </a:extLst>
          </p:cNvPr>
          <p:cNvPicPr>
            <a:picLocks noChangeAspect="1"/>
          </p:cNvPicPr>
          <p:nvPr/>
        </p:nvPicPr>
        <p:blipFill>
          <a:blip r:embed="rId2"/>
          <a:srcRect r="15208"/>
          <a:stretch/>
        </p:blipFill>
        <p:spPr>
          <a:xfrm>
            <a:off x="5354323" y="3628386"/>
            <a:ext cx="6121909" cy="1171575"/>
          </a:xfrm>
          <a:prstGeom prst="rect">
            <a:avLst/>
          </a:prstGeom>
        </p:spPr>
      </p:pic>
      <p:pic>
        <p:nvPicPr>
          <p:cNvPr id="6" name="Picture 5" descr="Globe at night">
            <a:extLst>
              <a:ext uri="{FF2B5EF4-FFF2-40B4-BE49-F238E27FC236}">
                <a16:creationId xmlns:a16="http://schemas.microsoft.com/office/drawing/2014/main" id="{1033151E-4B1B-319F-835C-512574692D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096784"/>
            <a:ext cx="4761216" cy="4761216"/>
          </a:xfrm>
          <a:prstGeom prst="rect">
            <a:avLst/>
          </a:prstGeom>
        </p:spPr>
      </p:pic>
    </p:spTree>
    <p:extLst>
      <p:ext uri="{BB962C8B-B14F-4D97-AF65-F5344CB8AC3E}">
        <p14:creationId xmlns:p14="http://schemas.microsoft.com/office/powerpoint/2010/main" val="3292585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55333-2748-3094-F446-8F3599C8715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1E6ED0D-06B5-20A8-10F5-907AB08DE4E3}"/>
              </a:ext>
            </a:extLst>
          </p:cNvPr>
          <p:cNvSpPr/>
          <p:nvPr/>
        </p:nvSpPr>
        <p:spPr>
          <a:xfrm>
            <a:off x="0" y="0"/>
            <a:ext cx="12192000" cy="6858000"/>
          </a:xfrm>
          <a:prstGeom prst="rect">
            <a:avLst/>
          </a:prstGeom>
          <a:solidFill>
            <a:schemeClr val="accent5">
              <a:lumMod val="60000"/>
              <a:lumOff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211DA3-770F-A3FF-E845-87564918357B}"/>
              </a:ext>
            </a:extLst>
          </p:cNvPr>
          <p:cNvSpPr>
            <a:spLocks noGrp="1"/>
          </p:cNvSpPr>
          <p:nvPr>
            <p:ph type="title"/>
          </p:nvPr>
        </p:nvSpPr>
        <p:spPr/>
        <p:txBody>
          <a:bodyPr/>
          <a:lstStyle/>
          <a:p>
            <a:r>
              <a:rPr lang="en-US" dirty="0"/>
              <a:t>Report 3</a:t>
            </a:r>
          </a:p>
        </p:txBody>
      </p:sp>
      <p:sp>
        <p:nvSpPr>
          <p:cNvPr id="3" name="Content Placeholder 2">
            <a:extLst>
              <a:ext uri="{FF2B5EF4-FFF2-40B4-BE49-F238E27FC236}">
                <a16:creationId xmlns:a16="http://schemas.microsoft.com/office/drawing/2014/main" id="{F9F8EDE6-9F5F-71DE-445A-D7E9FE112407}"/>
              </a:ext>
            </a:extLst>
          </p:cNvPr>
          <p:cNvSpPr>
            <a:spLocks noGrp="1"/>
          </p:cNvSpPr>
          <p:nvPr>
            <p:ph idx="1"/>
          </p:nvPr>
        </p:nvSpPr>
        <p:spPr/>
        <p:txBody>
          <a:bodyPr vert="horz" lIns="91440" tIns="45720" rIns="91440" bIns="45720" rtlCol="0" anchor="t">
            <a:normAutofit/>
          </a:bodyPr>
          <a:lstStyle/>
          <a:p>
            <a:pPr marL="0" indent="0" algn="ctr">
              <a:buNone/>
            </a:pPr>
            <a:r>
              <a:rPr lang="en-US" sz="1200" dirty="0">
                <a:latin typeface="Aptos"/>
              </a:rPr>
              <a:t>Our third report shows equipment age. </a:t>
            </a:r>
            <a:endParaRPr lang="en-US" dirty="0"/>
          </a:p>
          <a:p>
            <a:pPr marL="0" indent="0" algn="ctr">
              <a:buNone/>
            </a:pPr>
            <a:r>
              <a:rPr lang="en-US" sz="1200" dirty="0">
                <a:latin typeface="Aptos"/>
              </a:rPr>
              <a:t> Safety is key, and we wanted to know what equipment items might need replacing soon. We want our travel customers to feel safe and be able to trust that we have their safety and best interests at heart when it comes to enjoying their trips, as well comfort of the necessary equipment for these trips.</a:t>
            </a:r>
          </a:p>
          <a:p>
            <a:pPr indent="0" algn="ctr">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a:p>
            <a:pPr marL="0" indent="0" algn="ctr">
              <a:buNone/>
            </a:pPr>
            <a:endParaRPr lang="en-US" sz="1200" dirty="0">
              <a:latin typeface="Aptos"/>
            </a:endParaRPr>
          </a:p>
          <a:p>
            <a:pPr marL="0" indent="0" algn="ctr">
              <a:buNone/>
            </a:pPr>
            <a:endParaRPr lang="en-US" sz="1200" dirty="0">
              <a:latin typeface="Aptos"/>
            </a:endParaRPr>
          </a:p>
          <a:p>
            <a:pPr marL="0" indent="0" algn="ctr">
              <a:buNone/>
            </a:pPr>
            <a:r>
              <a:rPr lang="en-US" sz="1200" dirty="0">
                <a:latin typeface="Aptos"/>
              </a:rPr>
              <a:t>Only one category in our items is still here five years after our purchase date. It's important to note that we rent items as well, so these may only be rentals and not equipment for sale. Once these equipment items get to a point where their safety may be compromised even a little bit, we will rotate them out for new ones.</a:t>
            </a:r>
          </a:p>
          <a:p>
            <a:pPr marL="0" indent="0">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a:p>
            <a:pPr marL="0" indent="0">
              <a:buNone/>
            </a:pPr>
            <a:endParaRPr lang="en-US" sz="1200" dirty="0">
              <a:latin typeface="Aptos"/>
            </a:endParaRPr>
          </a:p>
        </p:txBody>
      </p:sp>
      <p:pic>
        <p:nvPicPr>
          <p:cNvPr id="4" name="Picture 3" descr="A black background with white text&#10;&#10;AI-generated content may be incorrect.">
            <a:extLst>
              <a:ext uri="{FF2B5EF4-FFF2-40B4-BE49-F238E27FC236}">
                <a16:creationId xmlns:a16="http://schemas.microsoft.com/office/drawing/2014/main" id="{8438A01E-AD21-D909-DAA3-E005A979B7E3}"/>
              </a:ext>
            </a:extLst>
          </p:cNvPr>
          <p:cNvPicPr>
            <a:picLocks noChangeAspect="1"/>
          </p:cNvPicPr>
          <p:nvPr/>
        </p:nvPicPr>
        <p:blipFill>
          <a:blip r:embed="rId2"/>
          <a:stretch>
            <a:fillRect/>
          </a:stretch>
        </p:blipFill>
        <p:spPr>
          <a:xfrm>
            <a:off x="1223962" y="3427335"/>
            <a:ext cx="9744075" cy="771525"/>
          </a:xfrm>
          <a:prstGeom prst="rect">
            <a:avLst/>
          </a:prstGeom>
        </p:spPr>
      </p:pic>
    </p:spTree>
    <p:extLst>
      <p:ext uri="{BB962C8B-B14F-4D97-AF65-F5344CB8AC3E}">
        <p14:creationId xmlns:p14="http://schemas.microsoft.com/office/powerpoint/2010/main" val="2505486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2721B7-DD1D-82D0-9BFB-D83CD2FC96FE}"/>
              </a:ext>
            </a:extLst>
          </p:cNvPr>
          <p:cNvSpPr>
            <a:spLocks noGrp="1"/>
          </p:cNvSpPr>
          <p:nvPr>
            <p:ph type="title"/>
          </p:nvPr>
        </p:nvSpPr>
        <p:spPr>
          <a:xfrm>
            <a:off x="4866968" y="914400"/>
            <a:ext cx="6627924" cy="1307592"/>
          </a:xfrm>
        </p:spPr>
        <p:txBody>
          <a:bodyPr>
            <a:normAutofit/>
          </a:bodyPr>
          <a:lstStyle/>
          <a:p>
            <a:r>
              <a:rPr lang="en-US" dirty="0"/>
              <a:t>Assumptions</a:t>
            </a:r>
          </a:p>
        </p:txBody>
      </p:sp>
      <p:pic>
        <p:nvPicPr>
          <p:cNvPr id="5" name="Picture 4" descr="Opening in tent showing lake lined with trees, sloping hills, and mountains with peaks of snow beneath clouds in blue sky">
            <a:extLst>
              <a:ext uri="{FF2B5EF4-FFF2-40B4-BE49-F238E27FC236}">
                <a16:creationId xmlns:a16="http://schemas.microsoft.com/office/drawing/2014/main" id="{AE0AFBC1-566F-B040-C39C-71288920C45C}"/>
              </a:ext>
            </a:extLst>
          </p:cNvPr>
          <p:cNvPicPr>
            <a:picLocks noChangeAspect="1"/>
          </p:cNvPicPr>
          <p:nvPr/>
        </p:nvPicPr>
        <p:blipFill>
          <a:blip r:embed="rId2" cstate="print">
            <a:extLst>
              <a:ext uri="{28A0092B-C50C-407E-A947-70E740481C1C}">
                <a14:useLocalDpi xmlns:a14="http://schemas.microsoft.com/office/drawing/2010/main" val="0"/>
              </a:ext>
            </a:extLst>
          </a:blip>
          <a:srcRect l="29599" r="29599"/>
          <a:stretch/>
        </p:blipFill>
        <p:spPr>
          <a:xfrm>
            <a:off x="-36360" y="-8965"/>
            <a:ext cx="4206220" cy="6875929"/>
          </a:xfrm>
          <a:prstGeom prst="rect">
            <a:avLst/>
          </a:prstGeom>
        </p:spPr>
      </p:pic>
      <p:cxnSp>
        <p:nvCxnSpPr>
          <p:cNvPr id="11" name="Straight Connector 10">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ACB2757-178C-2ABE-35D8-853FDDFF400B}"/>
              </a:ext>
            </a:extLst>
          </p:cNvPr>
          <p:cNvSpPr>
            <a:spLocks noGrp="1"/>
          </p:cNvSpPr>
          <p:nvPr>
            <p:ph idx="1"/>
          </p:nvPr>
        </p:nvSpPr>
        <p:spPr>
          <a:xfrm>
            <a:off x="4866968" y="2221992"/>
            <a:ext cx="6627924" cy="3739896"/>
          </a:xfrm>
        </p:spPr>
        <p:txBody>
          <a:bodyPr>
            <a:normAutofit/>
          </a:bodyPr>
          <a:lstStyle/>
          <a:p>
            <a:pPr marL="342900" marR="0" lvl="0" indent="-342900">
              <a:lnSpc>
                <a:spcPct val="100000"/>
              </a:lnSpc>
              <a:spcAft>
                <a:spcPts val="800"/>
              </a:spcAft>
              <a:buFont typeface="Wingdings" panose="05000000000000000000" pitchFamily="2" charset="2"/>
              <a:buChar char=""/>
            </a:pPr>
            <a:r>
              <a:rPr lang="en-US" sz="1700" kern="100">
                <a:effectLst/>
                <a:latin typeface="Aptos" panose="020B0004020202020204" pitchFamily="34" charset="0"/>
                <a:ea typeface="Aptos" panose="020B0004020202020204" pitchFamily="34" charset="0"/>
                <a:cs typeface="Times New Roman" panose="02020603050405020304" pitchFamily="18" charset="0"/>
              </a:rPr>
              <a:t>Something to track booking</a:t>
            </a:r>
          </a:p>
          <a:p>
            <a:pPr marL="342900" marR="0" lvl="0" indent="-342900">
              <a:lnSpc>
                <a:spcPct val="100000"/>
              </a:lnSpc>
              <a:spcAft>
                <a:spcPts val="800"/>
              </a:spcAft>
              <a:buFont typeface="Wingdings" panose="05000000000000000000" pitchFamily="2" charset="2"/>
              <a:buChar char=""/>
            </a:pPr>
            <a:r>
              <a:rPr lang="en-US" sz="1700" kern="100">
                <a:effectLst/>
                <a:latin typeface="Aptos" panose="020B0004020202020204" pitchFamily="34" charset="0"/>
                <a:ea typeface="Aptos" panose="020B0004020202020204" pitchFamily="34" charset="0"/>
                <a:cs typeface="Times New Roman" panose="02020603050405020304" pitchFamily="18" charset="0"/>
              </a:rPr>
              <a:t>Each product will need its own id for the program</a:t>
            </a:r>
          </a:p>
          <a:p>
            <a:pPr marL="342900" marR="0" lvl="0" indent="-342900">
              <a:lnSpc>
                <a:spcPct val="100000"/>
              </a:lnSpc>
              <a:spcAft>
                <a:spcPts val="800"/>
              </a:spcAft>
              <a:buFont typeface="Wingdings" panose="05000000000000000000" pitchFamily="2" charset="2"/>
              <a:buChar char=""/>
            </a:pPr>
            <a:r>
              <a:rPr lang="en-US" sz="1700" kern="100">
                <a:effectLst/>
                <a:latin typeface="Aptos" panose="020B0004020202020204" pitchFamily="34" charset="0"/>
                <a:ea typeface="Aptos" panose="020B0004020202020204" pitchFamily="34" charset="0"/>
                <a:cs typeface="Times New Roman" panose="02020603050405020304" pitchFamily="18" charset="0"/>
              </a:rPr>
              <a:t>Employees can only manage order entry but not suppliers or inventory updates</a:t>
            </a:r>
          </a:p>
          <a:p>
            <a:pPr marL="57150" marR="0" indent="-285750">
              <a:lnSpc>
                <a:spcPct val="100000"/>
              </a:lnSpc>
              <a:spcAft>
                <a:spcPts val="800"/>
              </a:spcAft>
              <a:buFont typeface="Wingdings" panose="05000000000000000000" pitchFamily="2" charset="2"/>
              <a:buChar char="Ø"/>
            </a:pPr>
            <a:r>
              <a:rPr lang="en-US" sz="1700" kern="100">
                <a:effectLst/>
                <a:latin typeface="Aptos" panose="020B0004020202020204" pitchFamily="34" charset="0"/>
                <a:ea typeface="Aptos" panose="020B0004020202020204" pitchFamily="34" charset="0"/>
                <a:cs typeface="Times New Roman" panose="02020603050405020304" pitchFamily="18" charset="0"/>
              </a:rPr>
              <a:t>Equipment can either be sold or rented to customers.</a:t>
            </a:r>
          </a:p>
          <a:p>
            <a:pPr marL="57150" marR="0" indent="-285750">
              <a:lnSpc>
                <a:spcPct val="100000"/>
              </a:lnSpc>
              <a:spcAft>
                <a:spcPts val="800"/>
              </a:spcAft>
              <a:buFont typeface="Wingdings" panose="05000000000000000000" pitchFamily="2" charset="2"/>
              <a:buChar char="Ø"/>
            </a:pPr>
            <a:r>
              <a:rPr lang="en-US" sz="1700" kern="100">
                <a:effectLst/>
                <a:latin typeface="Aptos" panose="020B0004020202020204" pitchFamily="34" charset="0"/>
                <a:ea typeface="Aptos" panose="020B0004020202020204" pitchFamily="34" charset="0"/>
                <a:cs typeface="Times New Roman" panose="02020603050405020304" pitchFamily="18" charset="0"/>
              </a:rPr>
              <a:t>A customer can purchase or rent multiple equipment items.</a:t>
            </a:r>
          </a:p>
          <a:p>
            <a:pPr marL="57150" marR="0" indent="-285750">
              <a:lnSpc>
                <a:spcPct val="100000"/>
              </a:lnSpc>
              <a:spcAft>
                <a:spcPts val="800"/>
              </a:spcAft>
              <a:buFont typeface="Wingdings" panose="05000000000000000000" pitchFamily="2" charset="2"/>
              <a:buChar char="Ø"/>
            </a:pPr>
            <a:r>
              <a:rPr lang="en-US" sz="1700" kern="100">
                <a:effectLst/>
                <a:latin typeface="Aptos" panose="020B0004020202020204" pitchFamily="34" charset="0"/>
                <a:ea typeface="Aptos" panose="020B0004020202020204" pitchFamily="34" charset="0"/>
                <a:cs typeface="Times New Roman" panose="02020603050405020304" pitchFamily="18" charset="0"/>
              </a:rPr>
              <a:t>Equipment has a purchase date and allows age tracking.</a:t>
            </a:r>
          </a:p>
          <a:p>
            <a:pPr marR="0">
              <a:lnSpc>
                <a:spcPct val="100000"/>
              </a:lnSpc>
              <a:spcAft>
                <a:spcPts val="800"/>
              </a:spcAft>
              <a:buFont typeface="Wingdings" panose="05000000000000000000" pitchFamily="2" charset="2"/>
              <a:buChar char="Ø"/>
            </a:pPr>
            <a:r>
              <a:rPr lang="en-US" sz="1700" kern="100">
                <a:effectLst/>
                <a:latin typeface="Aptos" panose="020B0004020202020204" pitchFamily="34" charset="0"/>
                <a:ea typeface="Aptos" panose="020B0004020202020204" pitchFamily="34" charset="0"/>
                <a:cs typeface="Times New Roman" panose="02020603050405020304" pitchFamily="18" charset="0"/>
              </a:rPr>
              <a:t>Each piece of equipment has a stock quantity.</a:t>
            </a:r>
          </a:p>
          <a:p>
            <a:pPr>
              <a:lnSpc>
                <a:spcPct val="100000"/>
              </a:lnSpc>
            </a:pPr>
            <a:endParaRPr lang="en-US" sz="1700"/>
          </a:p>
        </p:txBody>
      </p:sp>
      <p:cxnSp>
        <p:nvCxnSpPr>
          <p:cNvPr id="13" name="Straight Connector 12">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8523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2C06F717-21B9-787A-6A6E-C11DF8936B90}"/>
              </a:ext>
            </a:extLst>
          </p:cNvPr>
          <p:cNvPicPr>
            <a:picLocks noGrp="1" noChangeAspect="1"/>
          </p:cNvPicPr>
          <p:nvPr>
            <p:ph idx="1"/>
          </p:nvPr>
        </p:nvPicPr>
        <p:blipFill>
          <a:blip r:embed="rId2"/>
          <a:srcRect r="3112" b="1"/>
          <a:stretch/>
        </p:blipFill>
        <p:spPr>
          <a:xfrm>
            <a:off x="1" y="10"/>
            <a:ext cx="12192000" cy="6857989"/>
          </a:xfrm>
          <a:prstGeom prst="rect">
            <a:avLst/>
          </a:prstGeom>
        </p:spPr>
      </p:pic>
      <p:sp>
        <p:nvSpPr>
          <p:cNvPr id="15" name="Rectangle 14">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0E66EA-8FBD-2177-75F2-FDA4A77C04C7}"/>
              </a:ext>
            </a:extLst>
          </p:cNvPr>
          <p:cNvSpPr>
            <a:spLocks noGrp="1"/>
          </p:cNvSpPr>
          <p:nvPr>
            <p:ph type="title"/>
          </p:nvPr>
        </p:nvSpPr>
        <p:spPr>
          <a:xfrm>
            <a:off x="1833541" y="990599"/>
            <a:ext cx="5619054" cy="4849091"/>
          </a:xfrm>
        </p:spPr>
        <p:txBody>
          <a:bodyPr vert="horz" lIns="91440" tIns="45720" rIns="91440" bIns="45720" rtlCol="0" anchor="ctr">
            <a:normAutofit/>
          </a:bodyPr>
          <a:lstStyle/>
          <a:p>
            <a:pPr algn="r"/>
            <a:r>
              <a:rPr lang="en-US" sz="5400">
                <a:solidFill>
                  <a:srgbClr val="FFFFFF"/>
                </a:solidFill>
              </a:rPr>
              <a:t>SQL Query</a:t>
            </a:r>
          </a:p>
        </p:txBody>
      </p:sp>
      <p:cxnSp>
        <p:nvCxnSpPr>
          <p:cNvPr id="17" name="Straight Connector 16">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6362331"/>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EA28CCCF-5565-9CDF-CE6B-A42BE4BA0C9A}"/>
              </a:ext>
            </a:extLst>
          </p:cNvPr>
          <p:cNvPicPr>
            <a:picLocks noGrp="1" noChangeAspect="1"/>
          </p:cNvPicPr>
          <p:nvPr>
            <p:ph idx="1"/>
          </p:nvPr>
        </p:nvPicPr>
        <p:blipFill>
          <a:blip r:embed="rId2"/>
          <a:srcRect r="3112" b="1"/>
          <a:stretch/>
        </p:blipFill>
        <p:spPr>
          <a:xfrm>
            <a:off x="1" y="10"/>
            <a:ext cx="12192000" cy="6857989"/>
          </a:xfrm>
          <a:prstGeom prst="rect">
            <a:avLst/>
          </a:prstGeom>
        </p:spPr>
      </p:pic>
      <p:sp>
        <p:nvSpPr>
          <p:cNvPr id="15" name="Rectangle 14">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B404A9-AD25-0B64-21F9-DDAA9AF7C139}"/>
              </a:ext>
            </a:extLst>
          </p:cNvPr>
          <p:cNvSpPr>
            <a:spLocks noGrp="1"/>
          </p:cNvSpPr>
          <p:nvPr>
            <p:ph type="title"/>
          </p:nvPr>
        </p:nvSpPr>
        <p:spPr>
          <a:xfrm>
            <a:off x="2465443" y="-1103352"/>
            <a:ext cx="5619054" cy="4849091"/>
          </a:xfrm>
        </p:spPr>
        <p:txBody>
          <a:bodyPr vert="horz" lIns="91440" tIns="45720" rIns="91440" bIns="45720" rtlCol="0" anchor="ctr">
            <a:normAutofit/>
          </a:bodyPr>
          <a:lstStyle/>
          <a:p>
            <a:pPr algn="r"/>
            <a:r>
              <a:rPr lang="en-US" sz="5400">
                <a:solidFill>
                  <a:srgbClr val="FFFFFF"/>
                </a:solidFill>
              </a:rPr>
              <a:t>Python results</a:t>
            </a:r>
          </a:p>
        </p:txBody>
      </p:sp>
      <p:cxnSp>
        <p:nvCxnSpPr>
          <p:cNvPr id="17" name="Straight Connector 16">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492514"/>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67" name="Straight Connector 6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71" name="Rectangle 70">
            <a:extLst>
              <a:ext uri="{FF2B5EF4-FFF2-40B4-BE49-F238E27FC236}">
                <a16:creationId xmlns:a16="http://schemas.microsoft.com/office/drawing/2014/main" id="{341BFA31-6544-45C2-9DA0-9E1C5E0B1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1D7DB65D-5EFD-43C1-976E-763AAA2A6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2"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Elephant in wild at sunset">
            <a:extLst>
              <a:ext uri="{FF2B5EF4-FFF2-40B4-BE49-F238E27FC236}">
                <a16:creationId xmlns:a16="http://schemas.microsoft.com/office/drawing/2014/main" id="{CB7952EF-94C6-D969-8DD2-0DF6B1E1141D}"/>
              </a:ext>
            </a:extLst>
          </p:cNvPr>
          <p:cNvPicPr>
            <a:picLocks noChangeAspect="1"/>
          </p:cNvPicPr>
          <p:nvPr/>
        </p:nvPicPr>
        <p:blipFill>
          <a:blip r:embed="rId2" cstate="print">
            <a:extLst>
              <a:ext uri="{28A0092B-C50C-407E-A947-70E740481C1C}">
                <a14:useLocalDpi xmlns:a14="http://schemas.microsoft.com/office/drawing/2010/main" val="0"/>
              </a:ext>
            </a:extLst>
          </a:blip>
          <a:srcRect r="2" b="13130"/>
          <a:stretch>
            <a:fillRect/>
          </a:stretch>
        </p:blipFill>
        <p:spPr>
          <a:xfrm>
            <a:off x="6096000" y="727189"/>
            <a:ext cx="5295900" cy="3070938"/>
          </a:xfrm>
          <a:prstGeom prst="rect">
            <a:avLst/>
          </a:prstGeom>
        </p:spPr>
      </p:pic>
      <p:cxnSp>
        <p:nvCxnSpPr>
          <p:cNvPr id="75" name="Straight Connector 74">
            <a:extLst>
              <a:ext uri="{FF2B5EF4-FFF2-40B4-BE49-F238E27FC236}">
                <a16:creationId xmlns:a16="http://schemas.microsoft.com/office/drawing/2014/main" id="{5FBDBD30-F250-4D5E-925B-4796AFC99B8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4144434"/>
            <a:ext cx="1059180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31E12F5-6C1F-2107-3EC8-7EDDB68F27FA}"/>
              </a:ext>
            </a:extLst>
          </p:cNvPr>
          <p:cNvSpPr>
            <a:spLocks noGrp="1"/>
          </p:cNvSpPr>
          <p:nvPr>
            <p:ph type="title"/>
          </p:nvPr>
        </p:nvSpPr>
        <p:spPr>
          <a:xfrm>
            <a:off x="704850" y="5168735"/>
            <a:ext cx="10782299" cy="962076"/>
          </a:xfrm>
        </p:spPr>
        <p:txBody>
          <a:bodyPr vert="horz" lIns="91440" tIns="45720" rIns="91440" bIns="45720" rtlCol="0" anchor="t">
            <a:normAutofit/>
          </a:bodyPr>
          <a:lstStyle/>
          <a:p>
            <a:pPr>
              <a:lnSpc>
                <a:spcPct val="90000"/>
              </a:lnSpc>
            </a:pPr>
            <a:r>
              <a:rPr lang="en-US" sz="3000">
                <a:solidFill>
                  <a:schemeClr val="bg1"/>
                </a:solidFill>
              </a:rPr>
              <a:t>Don’t be caught wildly unprepared. Let us help you into your dream adventure!</a:t>
            </a:r>
          </a:p>
        </p:txBody>
      </p:sp>
      <p:pic>
        <p:nvPicPr>
          <p:cNvPr id="7" name="Picture 6" descr="A drawing of a tent and a forest&#10;&#10;AI-generated content may be incorrect.">
            <a:extLst>
              <a:ext uri="{FF2B5EF4-FFF2-40B4-BE49-F238E27FC236}">
                <a16:creationId xmlns:a16="http://schemas.microsoft.com/office/drawing/2014/main" id="{15F5EE75-A6B8-E763-251F-DF7F778996F3}"/>
              </a:ext>
            </a:extLst>
          </p:cNvPr>
          <p:cNvPicPr>
            <a:picLocks noChangeAspect="1"/>
          </p:cNvPicPr>
          <p:nvPr/>
        </p:nvPicPr>
        <p:blipFill>
          <a:blip r:embed="rId3"/>
          <a:stretch>
            <a:fillRect/>
          </a:stretch>
        </p:blipFill>
        <p:spPr>
          <a:xfrm>
            <a:off x="795978" y="0"/>
            <a:ext cx="4144434" cy="4144434"/>
          </a:xfrm>
          <a:prstGeom prst="rect">
            <a:avLst/>
          </a:prstGeom>
        </p:spPr>
      </p:pic>
    </p:spTree>
    <p:extLst>
      <p:ext uri="{BB962C8B-B14F-4D97-AF65-F5344CB8AC3E}">
        <p14:creationId xmlns:p14="http://schemas.microsoft.com/office/powerpoint/2010/main" val="574106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3076</TotalTime>
  <Words>497</Words>
  <Application>Microsoft Office PowerPoint</Application>
  <PresentationFormat>Widescreen</PresentationFormat>
  <Paragraphs>63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Calisto MT</vt:lpstr>
      <vt:lpstr>Univers Condensed</vt:lpstr>
      <vt:lpstr>Wingdings</vt:lpstr>
      <vt:lpstr>ChronicleVTI</vt:lpstr>
      <vt:lpstr>Outland Adventures</vt:lpstr>
      <vt:lpstr>Introduction!</vt:lpstr>
      <vt:lpstr>Case Study brief</vt:lpstr>
      <vt:lpstr>ERD</vt:lpstr>
      <vt:lpstr>Report 1</vt:lpstr>
      <vt:lpstr>Report 2</vt:lpstr>
      <vt:lpstr>Report 3</vt:lpstr>
      <vt:lpstr>Assumptions</vt:lpstr>
      <vt:lpstr>SQL Query</vt:lpstr>
      <vt:lpstr>Python results</vt:lpstr>
      <vt:lpstr>Don’t be caught wildly unprepared. Let us help you into your dream adventure!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Crystal Long</cp:lastModifiedBy>
  <cp:revision>270</cp:revision>
  <dcterms:created xsi:type="dcterms:W3CDTF">2025-05-11T13:22:14Z</dcterms:created>
  <dcterms:modified xsi:type="dcterms:W3CDTF">2025-05-17T01:34:53Z</dcterms:modified>
</cp:coreProperties>
</file>